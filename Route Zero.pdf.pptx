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7277100"/>
  <p:notesSz cx="6858000" cy="9144000"/>
  <p:embeddedFontLst>
    <p:embeddedFont>
      <p:font typeface="Quattrocento" charset="1" panose="02020502030000000404"/>
      <p:regular r:id="rId16"/>
    </p:embeddedFont>
    <p:embeddedFont>
      <p:font typeface="Quattrocento Bold" charset="1" panose="020208020300000004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625"/>
            <a:ext cx="11425228" cy="6429070"/>
            <a:chOff x="0" y="0"/>
            <a:chExt cx="11425238" cy="64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25180" cy="6429121"/>
            </a:xfrm>
            <a:custGeom>
              <a:avLst/>
              <a:gdLst/>
              <a:ahLst/>
              <a:cxnLst/>
              <a:rect r="r" b="b" t="t" l="l"/>
              <a:pathLst>
                <a:path h="6429121" w="11425180">
                  <a:moveTo>
                    <a:pt x="0" y="0"/>
                  </a:moveTo>
                  <a:lnTo>
                    <a:pt x="0" y="6429121"/>
                  </a:lnTo>
                  <a:lnTo>
                    <a:pt x="11425180" y="6429121"/>
                  </a:lnTo>
                  <a:lnTo>
                    <a:pt x="11425180" y="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417" y="428625"/>
            <a:ext cx="4286050" cy="6429070"/>
            <a:chOff x="0" y="0"/>
            <a:chExt cx="5714733" cy="8572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4746" cy="8572119"/>
            </a:xfrm>
            <a:custGeom>
              <a:avLst/>
              <a:gdLst/>
              <a:ahLst/>
              <a:cxnLst/>
              <a:rect r="r" b="b" t="t" l="l"/>
              <a:pathLst>
                <a:path h="8572119" w="5714746">
                  <a:moveTo>
                    <a:pt x="0" y="0"/>
                  </a:moveTo>
                  <a:lnTo>
                    <a:pt x="5714746" y="0"/>
                  </a:lnTo>
                  <a:lnTo>
                    <a:pt x="5714746" y="8572119"/>
                  </a:lnTo>
                  <a:lnTo>
                    <a:pt x="0" y="857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t="0" r="-15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428625"/>
            <a:ext cx="11430000" cy="6429375"/>
            <a:chOff x="0" y="0"/>
            <a:chExt cx="11430000" cy="64293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54520" y="5673985"/>
            <a:ext cx="1459030" cy="2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8"/>
              </a:lnSpc>
            </a:pPr>
            <a:r>
              <a:rPr lang="en-US" sz="1177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TEAM CODE CARTEL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6572" y="1340310"/>
            <a:ext cx="3396701" cy="2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8"/>
              </a:lnSpc>
            </a:pPr>
            <a:r>
              <a:rPr lang="en-US" sz="117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SDG 11 — SUSTAINABLE CITIES &amp; COMMUNITIES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3890" y="2611260"/>
            <a:ext cx="6090856" cy="291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3848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Route Zero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2655"/>
              </a:lnSpc>
            </a:pPr>
            <a:r>
              <a:rPr lang="en-US" sz="531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Quantum-Inspired </a:t>
            </a:r>
          </a:p>
          <a:p>
            <a:pPr algn="l" rtl="true">
              <a:lnSpc>
                <a:spcPts val="2655"/>
              </a:lnSpc>
            </a:pPr>
          </a:p>
          <a:p>
            <a:pPr algn="l">
              <a:lnSpc>
                <a:spcPts val="2655"/>
              </a:lnSpc>
            </a:pPr>
            <a:r>
              <a:rPr lang="en-US" sz="531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Waste Collection </a:t>
            </a:r>
          </a:p>
          <a:p>
            <a:pPr algn="l" rtl="true">
              <a:lnSpc>
                <a:spcPts val="2655"/>
              </a:lnSpc>
            </a:pPr>
          </a:p>
          <a:p>
            <a:pPr algn="l" rtl="true">
              <a:lnSpc>
                <a:spcPts val="2655"/>
              </a:lnSpc>
            </a:pPr>
          </a:p>
          <a:p>
            <a:pPr algn="l">
              <a:lnSpc>
                <a:spcPts val="2655"/>
              </a:lnSpc>
            </a:pPr>
            <a:r>
              <a:rPr lang="en-US" sz="531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Route Optimization</a:t>
            </a:r>
          </a:p>
          <a:p>
            <a:pPr algn="l">
              <a:lnSpc>
                <a:spcPts val="2655"/>
              </a:lnSpc>
            </a:pPr>
          </a:p>
          <a:p>
            <a:pPr algn="l">
              <a:lnSpc>
                <a:spcPts val="842"/>
              </a:lnSpc>
            </a:pPr>
            <a:r>
              <a:rPr lang="en-US" sz="168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"Reduce emissions. Eliminate waste. Optimize everything."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625"/>
            <a:ext cx="11425228" cy="6429070"/>
            <a:chOff x="0" y="0"/>
            <a:chExt cx="11425238" cy="64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25180" cy="6429121"/>
            </a:xfrm>
            <a:custGeom>
              <a:avLst/>
              <a:gdLst/>
              <a:ahLst/>
              <a:cxnLst/>
              <a:rect r="r" b="b" t="t" l="l"/>
              <a:pathLst>
                <a:path h="6429121" w="11425180">
                  <a:moveTo>
                    <a:pt x="0" y="0"/>
                  </a:moveTo>
                  <a:lnTo>
                    <a:pt x="0" y="6429121"/>
                  </a:lnTo>
                  <a:lnTo>
                    <a:pt x="11425180" y="6429121"/>
                  </a:lnTo>
                  <a:lnTo>
                    <a:pt x="11425180" y="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28625"/>
            <a:ext cx="4286050" cy="6429070"/>
            <a:chOff x="0" y="0"/>
            <a:chExt cx="5714733" cy="8572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4746" cy="8572119"/>
            </a:xfrm>
            <a:custGeom>
              <a:avLst/>
              <a:gdLst/>
              <a:ahLst/>
              <a:cxnLst/>
              <a:rect r="r" b="b" t="t" l="l"/>
              <a:pathLst>
                <a:path h="8572119" w="5714746">
                  <a:moveTo>
                    <a:pt x="0" y="0"/>
                  </a:moveTo>
                  <a:lnTo>
                    <a:pt x="5714746" y="0"/>
                  </a:lnTo>
                  <a:lnTo>
                    <a:pt x="5714746" y="8572119"/>
                  </a:lnTo>
                  <a:lnTo>
                    <a:pt x="0" y="857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t="0" r="-15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365122"/>
            <a:ext cx="11556997" cy="6556372"/>
          </a:xfrm>
          <a:custGeom>
            <a:avLst/>
            <a:gdLst/>
            <a:ahLst/>
            <a:cxnLst/>
            <a:rect r="r" b="b" t="t" l="l"/>
            <a:pathLst>
              <a:path h="6556372" w="11556997">
                <a:moveTo>
                  <a:pt x="0" y="0"/>
                </a:moveTo>
                <a:lnTo>
                  <a:pt x="11556997" y="0"/>
                </a:lnTo>
                <a:lnTo>
                  <a:pt x="11556997" y="6556372"/>
                </a:lnTo>
                <a:lnTo>
                  <a:pt x="0" y="6556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20034" y="871909"/>
            <a:ext cx="4623978" cy="56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3356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The Urban Waste Crisis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66328" y="1886626"/>
            <a:ext cx="1278245" cy="28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67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Wasted Fuel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66328" y="3945846"/>
            <a:ext cx="1474851" cy="28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67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CO₂ Emissions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91725" y="1888541"/>
            <a:ext cx="1737474" cy="28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67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Overflowing Bins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01142" y="2274903"/>
            <a:ext cx="2493045" cy="109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426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Fixed routes burn </a:t>
            </a:r>
            <a:r>
              <a:rPr lang="en-US" b="true" sz="1426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30–40%</a:t>
            </a:r>
          </a:p>
          <a:p>
            <a:pPr algn="l">
              <a:lnSpc>
                <a:spcPts val="2175"/>
              </a:lnSpc>
            </a:pPr>
            <a:r>
              <a:rPr lang="en-US" b="true" sz="1426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more fuel</a:t>
            </a:r>
            <a:r>
              <a:rPr lang="en-US" sz="1426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than necessary — trucks collect half-empty bins on rigid schedules.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00961" y="4319664"/>
            <a:ext cx="5097532" cy="55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26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Waste fleets aremajorurban emission sources. Growing cities make optimization harder.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6530" y="2274903"/>
            <a:ext cx="2433752" cy="108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426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Static schedules ignore real- time conditions, causing citizen complaints and urban health hazards.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08622" y="5503726"/>
            <a:ext cx="5016398" cy="53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b="true" sz="1426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$200B+</a:t>
            </a:r>
            <a:r>
              <a:rPr lang="en-US" sz="1426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spent annually on waste management globally — yet routing remains stuck in the past.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367789"/>
            <a:ext cx="11556997" cy="6555229"/>
          </a:xfrm>
          <a:custGeom>
            <a:avLst/>
            <a:gdLst/>
            <a:ahLst/>
            <a:cxnLst/>
            <a:rect r="r" b="b" t="t" l="l"/>
            <a:pathLst>
              <a:path h="6555229" w="11556997">
                <a:moveTo>
                  <a:pt x="0" y="0"/>
                </a:moveTo>
                <a:lnTo>
                  <a:pt x="11556997" y="0"/>
                </a:lnTo>
                <a:lnTo>
                  <a:pt x="11556997" y="6555229"/>
                </a:lnTo>
                <a:lnTo>
                  <a:pt x="0" y="655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7196" y="3200267"/>
            <a:ext cx="1360932" cy="847401"/>
            <a:chOff x="0" y="0"/>
            <a:chExt cx="1814576" cy="11298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4576" cy="1129919"/>
            </a:xfrm>
            <a:custGeom>
              <a:avLst/>
              <a:gdLst/>
              <a:ahLst/>
              <a:cxnLst/>
              <a:rect r="r" b="b" t="t" l="l"/>
              <a:pathLst>
                <a:path h="1129919" w="1814576">
                  <a:moveTo>
                    <a:pt x="30861" y="0"/>
                  </a:moveTo>
                  <a:cubicBezTo>
                    <a:pt x="22479" y="0"/>
                    <a:pt x="15240" y="3048"/>
                    <a:pt x="9144" y="9144"/>
                  </a:cubicBezTo>
                  <a:cubicBezTo>
                    <a:pt x="3048" y="15240"/>
                    <a:pt x="0" y="22606"/>
                    <a:pt x="0" y="31115"/>
                  </a:cubicBezTo>
                  <a:lnTo>
                    <a:pt x="0" y="1099185"/>
                  </a:lnTo>
                  <a:cubicBezTo>
                    <a:pt x="0" y="1107821"/>
                    <a:pt x="3048" y="1115187"/>
                    <a:pt x="9144" y="1121283"/>
                  </a:cubicBezTo>
                  <a:cubicBezTo>
                    <a:pt x="13970" y="1126109"/>
                    <a:pt x="19558" y="1128903"/>
                    <a:pt x="25908" y="1129919"/>
                  </a:cubicBezTo>
                  <a:lnTo>
                    <a:pt x="1789938" y="1129919"/>
                  </a:lnTo>
                  <a:cubicBezTo>
                    <a:pt x="1796415" y="1128903"/>
                    <a:pt x="1802003" y="1125982"/>
                    <a:pt x="1806956" y="1121156"/>
                  </a:cubicBezTo>
                  <a:cubicBezTo>
                    <a:pt x="1810512" y="1117600"/>
                    <a:pt x="1813052" y="1113536"/>
                    <a:pt x="1814576" y="1109091"/>
                  </a:cubicBezTo>
                  <a:lnTo>
                    <a:pt x="1814576" y="21082"/>
                  </a:lnTo>
                  <a:cubicBezTo>
                    <a:pt x="1813052" y="16637"/>
                    <a:pt x="1810512" y="12573"/>
                    <a:pt x="1806956" y="9017"/>
                  </a:cubicBezTo>
                  <a:cubicBezTo>
                    <a:pt x="1800860" y="2921"/>
                    <a:pt x="1793494" y="0"/>
                    <a:pt x="1785112" y="0"/>
                  </a:cubicBezTo>
                  <a:close/>
                </a:path>
              </a:pathLst>
            </a:custGeom>
            <a:blipFill>
              <a:blip r:embed="rId4"/>
              <a:stretch>
                <a:fillRect l="-22" t="-33" r="-221" b="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238348" y="3200267"/>
            <a:ext cx="1370867" cy="847306"/>
            <a:chOff x="0" y="0"/>
            <a:chExt cx="1827822" cy="11297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7911" cy="1129792"/>
            </a:xfrm>
            <a:custGeom>
              <a:avLst/>
              <a:gdLst/>
              <a:ahLst/>
              <a:cxnLst/>
              <a:rect r="r" b="b" t="t" l="l"/>
              <a:pathLst>
                <a:path h="1129792" w="1827911">
                  <a:moveTo>
                    <a:pt x="30861" y="0"/>
                  </a:moveTo>
                  <a:cubicBezTo>
                    <a:pt x="22479" y="0"/>
                    <a:pt x="15240" y="3048"/>
                    <a:pt x="9144" y="9144"/>
                  </a:cubicBezTo>
                  <a:cubicBezTo>
                    <a:pt x="3048" y="15240"/>
                    <a:pt x="0" y="22606"/>
                    <a:pt x="0" y="31115"/>
                  </a:cubicBezTo>
                  <a:lnTo>
                    <a:pt x="0" y="1099185"/>
                  </a:lnTo>
                  <a:cubicBezTo>
                    <a:pt x="0" y="1107821"/>
                    <a:pt x="3048" y="1115187"/>
                    <a:pt x="9144" y="1121283"/>
                  </a:cubicBezTo>
                  <a:cubicBezTo>
                    <a:pt x="13716" y="1125855"/>
                    <a:pt x="19177" y="1128776"/>
                    <a:pt x="25146" y="1129792"/>
                  </a:cubicBezTo>
                  <a:lnTo>
                    <a:pt x="1803527" y="1129792"/>
                  </a:lnTo>
                  <a:cubicBezTo>
                    <a:pt x="1809623" y="1128649"/>
                    <a:pt x="1815084" y="1125855"/>
                    <a:pt x="1819783" y="1121156"/>
                  </a:cubicBezTo>
                  <a:cubicBezTo>
                    <a:pt x="1823847" y="1117092"/>
                    <a:pt x="1826514" y="1112520"/>
                    <a:pt x="1827911" y="1107313"/>
                  </a:cubicBezTo>
                  <a:lnTo>
                    <a:pt x="1827911" y="22860"/>
                  </a:lnTo>
                  <a:cubicBezTo>
                    <a:pt x="1826514" y="17653"/>
                    <a:pt x="1823847" y="13081"/>
                    <a:pt x="1819783" y="9017"/>
                  </a:cubicBezTo>
                  <a:cubicBezTo>
                    <a:pt x="1813687" y="2921"/>
                    <a:pt x="1806321" y="0"/>
                    <a:pt x="1797939" y="0"/>
                  </a:cubicBezTo>
                  <a:close/>
                </a:path>
              </a:pathLst>
            </a:custGeom>
            <a:blipFill>
              <a:blip r:embed="rId5"/>
              <a:stretch>
                <a:fillRect l="-66" t="-44" r="-170" b="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829024" y="3200267"/>
            <a:ext cx="1370562" cy="847401"/>
            <a:chOff x="0" y="0"/>
            <a:chExt cx="1827416" cy="1129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7403" cy="1129792"/>
            </a:xfrm>
            <a:custGeom>
              <a:avLst/>
              <a:gdLst/>
              <a:ahLst/>
              <a:cxnLst/>
              <a:rect r="r" b="b" t="t" l="l"/>
              <a:pathLst>
                <a:path h="1129792" w="1827403">
                  <a:moveTo>
                    <a:pt x="30861" y="0"/>
                  </a:moveTo>
                  <a:cubicBezTo>
                    <a:pt x="22479" y="0"/>
                    <a:pt x="15240" y="3048"/>
                    <a:pt x="9144" y="9144"/>
                  </a:cubicBezTo>
                  <a:cubicBezTo>
                    <a:pt x="3048" y="15240"/>
                    <a:pt x="0" y="22479"/>
                    <a:pt x="0" y="30861"/>
                  </a:cubicBezTo>
                  <a:lnTo>
                    <a:pt x="0" y="1099312"/>
                  </a:lnTo>
                  <a:cubicBezTo>
                    <a:pt x="0" y="1107821"/>
                    <a:pt x="3048" y="1115187"/>
                    <a:pt x="9144" y="1121156"/>
                  </a:cubicBezTo>
                  <a:cubicBezTo>
                    <a:pt x="13970" y="1125982"/>
                    <a:pt x="19558" y="1128776"/>
                    <a:pt x="25908" y="1129792"/>
                  </a:cubicBezTo>
                  <a:lnTo>
                    <a:pt x="1802638" y="1129792"/>
                  </a:lnTo>
                  <a:cubicBezTo>
                    <a:pt x="1809115" y="1128776"/>
                    <a:pt x="1814703" y="1125855"/>
                    <a:pt x="1819656" y="1121029"/>
                  </a:cubicBezTo>
                  <a:cubicBezTo>
                    <a:pt x="1823339" y="1117346"/>
                    <a:pt x="1825879" y="1113155"/>
                    <a:pt x="1827403" y="1108583"/>
                  </a:cubicBezTo>
                  <a:lnTo>
                    <a:pt x="1827403" y="21463"/>
                  </a:lnTo>
                  <a:cubicBezTo>
                    <a:pt x="1826006" y="16891"/>
                    <a:pt x="1823339" y="12700"/>
                    <a:pt x="1819656" y="9017"/>
                  </a:cubicBezTo>
                  <a:cubicBezTo>
                    <a:pt x="1813560" y="2921"/>
                    <a:pt x="1806194" y="0"/>
                    <a:pt x="1797812" y="0"/>
                  </a:cubicBezTo>
                  <a:close/>
                </a:path>
              </a:pathLst>
            </a:custGeom>
            <a:blipFill>
              <a:blip r:embed="rId6"/>
              <a:stretch>
                <a:fillRect l="-22" t="-33" r="0" b="-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19700" y="3200267"/>
            <a:ext cx="1360932" cy="847401"/>
            <a:chOff x="0" y="0"/>
            <a:chExt cx="1814576" cy="11298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4576" cy="1129919"/>
            </a:xfrm>
            <a:custGeom>
              <a:avLst/>
              <a:gdLst/>
              <a:ahLst/>
              <a:cxnLst/>
              <a:rect r="r" b="b" t="t" l="l"/>
              <a:pathLst>
                <a:path h="1129919" w="1814576">
                  <a:moveTo>
                    <a:pt x="30861" y="0"/>
                  </a:moveTo>
                  <a:cubicBezTo>
                    <a:pt x="22479" y="0"/>
                    <a:pt x="15240" y="3048"/>
                    <a:pt x="9144" y="9144"/>
                  </a:cubicBezTo>
                  <a:cubicBezTo>
                    <a:pt x="3048" y="15240"/>
                    <a:pt x="0" y="22606"/>
                    <a:pt x="0" y="31115"/>
                  </a:cubicBezTo>
                  <a:lnTo>
                    <a:pt x="0" y="1099185"/>
                  </a:lnTo>
                  <a:cubicBezTo>
                    <a:pt x="0" y="1107821"/>
                    <a:pt x="3048" y="1115187"/>
                    <a:pt x="9144" y="1121283"/>
                  </a:cubicBezTo>
                  <a:cubicBezTo>
                    <a:pt x="13970" y="1126109"/>
                    <a:pt x="19558" y="1128903"/>
                    <a:pt x="25908" y="1129919"/>
                  </a:cubicBezTo>
                  <a:lnTo>
                    <a:pt x="1789938" y="1129919"/>
                  </a:lnTo>
                  <a:cubicBezTo>
                    <a:pt x="1796415" y="1128903"/>
                    <a:pt x="1802003" y="1125982"/>
                    <a:pt x="1806956" y="1121156"/>
                  </a:cubicBezTo>
                  <a:cubicBezTo>
                    <a:pt x="1810512" y="1117600"/>
                    <a:pt x="1813052" y="1113536"/>
                    <a:pt x="1814576" y="1109091"/>
                  </a:cubicBezTo>
                  <a:lnTo>
                    <a:pt x="1814576" y="21082"/>
                  </a:lnTo>
                  <a:cubicBezTo>
                    <a:pt x="1813052" y="16637"/>
                    <a:pt x="1810512" y="12573"/>
                    <a:pt x="1806956" y="9017"/>
                  </a:cubicBezTo>
                  <a:cubicBezTo>
                    <a:pt x="1800860" y="2921"/>
                    <a:pt x="1793494" y="0"/>
                    <a:pt x="1785112" y="0"/>
                  </a:cubicBezTo>
                  <a:close/>
                </a:path>
              </a:pathLst>
            </a:custGeom>
            <a:blipFill>
              <a:blip r:embed="rId7"/>
              <a:stretch>
                <a:fillRect l="-22" t="-33" r="-221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419100"/>
            <a:ext cx="11430000" cy="6438900"/>
            <a:chOff x="0" y="0"/>
            <a:chExt cx="11430000" cy="6438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66572" y="1178395"/>
            <a:ext cx="1119959" cy="2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8"/>
              </a:lnSpc>
            </a:pPr>
            <a:r>
              <a:rPr lang="en-US" sz="117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OUR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329" y="1417796"/>
            <a:ext cx="9839725" cy="131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9"/>
              </a:lnSpc>
            </a:pPr>
            <a:r>
              <a:rPr lang="en-US" sz="346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Introducing Route Zero</a:t>
            </a:r>
          </a:p>
          <a:p>
            <a:pPr algn="l">
              <a:lnSpc>
                <a:spcPts val="2399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 real-time quantum-inspired routing engine for smart municipal waste systems — replacing fixed schedules with intelligent, adaptive collection.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520" y="4908099"/>
            <a:ext cx="2246671" cy="113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QUBO </a:t>
            </a:r>
          </a:p>
          <a:p>
            <a:pPr algn="l">
              <a:lnSpc>
                <a:spcPts val="2288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simulated </a:t>
            </a:r>
          </a:p>
          <a:p>
            <a:pPr algn="l">
              <a:lnSpc>
                <a:spcPts val="2288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annealing for highly efficient route calculation.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2985" y="4927149"/>
            <a:ext cx="863403" cy="2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modeling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6504" y="4898574"/>
            <a:ext cx="790718" cy="58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4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and quantum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42767" y="4631893"/>
            <a:ext cx="2145211" cy="115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8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IoT-enabled fill-level monitoring dynamically triggers collections only when needed.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31548" y="4898574"/>
            <a:ext cx="2317004" cy="87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Interactive dashboard with optimized truck dispatch routes in real time.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19995" y="4622368"/>
            <a:ext cx="2313546" cy="87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fuel savings, CO₂ reduction, and operational efficiency tracking.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520" y="4253674"/>
            <a:ext cx="1922412" cy="5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Quantum-Inspired 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42958" y="4228319"/>
            <a:ext cx="2228669" cy="30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Smart Bin Intelligence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31329" y="4253674"/>
            <a:ext cx="1302258" cy="5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Live Route Visualization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19995" y="4228319"/>
            <a:ext cx="2333358" cy="30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Sustainability Analytics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541" y="360464"/>
            <a:ext cx="3005128" cy="546002"/>
          </a:xfrm>
          <a:custGeom>
            <a:avLst/>
            <a:gdLst/>
            <a:ahLst/>
            <a:cxnLst/>
            <a:rect r="r" b="b" t="t" l="l"/>
            <a:pathLst>
              <a:path h="546002" w="3005128">
                <a:moveTo>
                  <a:pt x="0" y="0"/>
                </a:moveTo>
                <a:lnTo>
                  <a:pt x="3005128" y="0"/>
                </a:lnTo>
                <a:lnTo>
                  <a:pt x="3005128" y="546002"/>
                </a:lnTo>
                <a:lnTo>
                  <a:pt x="0" y="54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4539" y="2417778"/>
            <a:ext cx="9544050" cy="3038475"/>
            <a:chOff x="0" y="0"/>
            <a:chExt cx="12725400" cy="4051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25400" cy="4051300"/>
            </a:xfrm>
            <a:custGeom>
              <a:avLst/>
              <a:gdLst/>
              <a:ahLst/>
              <a:cxnLst/>
              <a:rect r="r" b="b" t="t" l="l"/>
              <a:pathLst>
                <a:path h="4051300" w="12725400">
                  <a:moveTo>
                    <a:pt x="0" y="0"/>
                  </a:moveTo>
                  <a:lnTo>
                    <a:pt x="12725400" y="0"/>
                  </a:lnTo>
                  <a:lnTo>
                    <a:pt x="12725400" y="4051300"/>
                  </a:lnTo>
                  <a:lnTo>
                    <a:pt x="0" y="405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65541" y="360464"/>
            <a:ext cx="3005566" cy="546002"/>
            <a:chOff x="0" y="0"/>
            <a:chExt cx="3005569" cy="5459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05581" cy="545972"/>
            </a:xfrm>
            <a:custGeom>
              <a:avLst/>
              <a:gdLst/>
              <a:ahLst/>
              <a:cxnLst/>
              <a:rect r="r" b="b" t="t" l="l"/>
              <a:pathLst>
                <a:path h="545972" w="3005581">
                  <a:moveTo>
                    <a:pt x="0" y="545972"/>
                  </a:moveTo>
                  <a:lnTo>
                    <a:pt x="3005581" y="545972"/>
                  </a:lnTo>
                  <a:lnTo>
                    <a:pt x="30055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3677" y="443941"/>
            <a:ext cx="2520601" cy="29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0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3229" y="901932"/>
            <a:ext cx="1424273" cy="30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173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How It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7546" y="1916316"/>
            <a:ext cx="1630518" cy="3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IoT Bin Sensors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9580" y="4588573"/>
            <a:ext cx="1810293" cy="3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Cloud 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1610" y="2207247"/>
            <a:ext cx="1924021" cy="3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QUBO Conversion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74829" y="5299739"/>
            <a:ext cx="2123561" cy="3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Annealing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18589" y="2832211"/>
            <a:ext cx="2068906" cy="3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Dispatch &amp; Monitor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2042" y="6517510"/>
            <a:ext cx="10746219" cy="37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6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From sensor to street in seconds — Route Zero's pipeline transforms raw bin data into optimized collection routes using quantum-inspired computation, all deployed on standard cloud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365122"/>
            <a:ext cx="11553282" cy="6552886"/>
            <a:chOff x="0" y="0"/>
            <a:chExt cx="15404376" cy="8737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4337" cy="8737219"/>
            </a:xfrm>
            <a:custGeom>
              <a:avLst/>
              <a:gdLst/>
              <a:ahLst/>
              <a:cxnLst/>
              <a:rect r="r" b="b" t="t" l="l"/>
              <a:pathLst>
                <a:path h="8737219" w="15404337">
                  <a:moveTo>
                    <a:pt x="0" y="0"/>
                  </a:moveTo>
                  <a:lnTo>
                    <a:pt x="15404337" y="0"/>
                  </a:lnTo>
                  <a:lnTo>
                    <a:pt x="15404337" y="8737219"/>
                  </a:lnTo>
                  <a:lnTo>
                    <a:pt x="0" y="8737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3890" y="1269359"/>
            <a:ext cx="7004685" cy="52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068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Why Quantum-Inspired Optimization?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9420" y="1857566"/>
            <a:ext cx="40548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2529" y="3131134"/>
            <a:ext cx="4214955" cy="4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304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Fallback modes:</a:t>
            </a:r>
            <a:r>
              <a:rPr lang="en-US" sz="130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Simulated Annealing · Hybrid Classical Optimization · D-Wave Compatible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3890" y="1857566"/>
            <a:ext cx="5012284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Traditionalroute optimizationstrugglesatcityscale— the</a:t>
            </a:r>
            <a:r>
              <a:rPr lang="en-US" b="true" sz="1304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Vehicle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890" y="2095671"/>
            <a:ext cx="5441051" cy="68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b="true" sz="1304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Routing Problem (VRP)</a:t>
            </a: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is NP-hard. Route Zero uses QUBO modeling and simulated quantum annealing to generate highly efficient routes </a:t>
            </a:r>
          </a:p>
          <a:p>
            <a:pPr algn="l">
              <a:lnSpc>
                <a:spcPts val="1649"/>
              </a:lnSpc>
            </a:pP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with lower computational complexity.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95313" y="3548558"/>
            <a:ext cx="2057295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b="true" sz="1304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142 km</a:t>
            </a: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total route distance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5313" y="2396080"/>
            <a:ext cx="2073840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b="true" sz="1304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210 km</a:t>
            </a: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total route distance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5313" y="4710551"/>
            <a:ext cx="2217172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b="true" sz="1304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−32.2%</a:t>
            </a:r>
            <a:r>
              <a:rPr lang="en-US" sz="130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reduction in distance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5313" y="3103597"/>
            <a:ext cx="1183424" cy="2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QuantaRoute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95313" y="4265600"/>
            <a:ext cx="1347045" cy="2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Efficiency Gain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5313" y="1951130"/>
            <a:ext cx="1513418" cy="2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Classical</a:t>
            </a:r>
            <a:r>
              <a:rPr lang="en-US" sz="1533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3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Routing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625"/>
            <a:ext cx="11425228" cy="6429070"/>
            <a:chOff x="0" y="0"/>
            <a:chExt cx="11425238" cy="64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25180" cy="6429121"/>
            </a:xfrm>
            <a:custGeom>
              <a:avLst/>
              <a:gdLst/>
              <a:ahLst/>
              <a:cxnLst/>
              <a:rect r="r" b="b" t="t" l="l"/>
              <a:pathLst>
                <a:path h="6429121" w="11425180">
                  <a:moveTo>
                    <a:pt x="0" y="0"/>
                  </a:moveTo>
                  <a:lnTo>
                    <a:pt x="0" y="6429121"/>
                  </a:lnTo>
                  <a:lnTo>
                    <a:pt x="11425180" y="6429121"/>
                  </a:lnTo>
                  <a:lnTo>
                    <a:pt x="11425180" y="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28625"/>
            <a:ext cx="4286050" cy="6429070"/>
            <a:chOff x="0" y="0"/>
            <a:chExt cx="5714733" cy="8572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4746" cy="8572119"/>
            </a:xfrm>
            <a:custGeom>
              <a:avLst/>
              <a:gdLst/>
              <a:ahLst/>
              <a:cxnLst/>
              <a:rect r="r" b="b" t="t" l="l"/>
              <a:pathLst>
                <a:path h="8572119" w="5714746">
                  <a:moveTo>
                    <a:pt x="0" y="0"/>
                  </a:moveTo>
                  <a:lnTo>
                    <a:pt x="5714746" y="0"/>
                  </a:lnTo>
                  <a:lnTo>
                    <a:pt x="5714746" y="8572119"/>
                  </a:lnTo>
                  <a:lnTo>
                    <a:pt x="0" y="857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t="0" r="-15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365122"/>
            <a:ext cx="11556997" cy="6556372"/>
          </a:xfrm>
          <a:custGeom>
            <a:avLst/>
            <a:gdLst/>
            <a:ahLst/>
            <a:cxnLst/>
            <a:rect r="r" b="b" t="t" l="l"/>
            <a:pathLst>
              <a:path h="6556372" w="11556997">
                <a:moveTo>
                  <a:pt x="0" y="0"/>
                </a:moveTo>
                <a:lnTo>
                  <a:pt x="11556997" y="0"/>
                </a:lnTo>
                <a:lnTo>
                  <a:pt x="11556997" y="6556372"/>
                </a:lnTo>
                <a:lnTo>
                  <a:pt x="0" y="6556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11245" y="966568"/>
            <a:ext cx="736692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066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MVP DEMO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09756" y="1257138"/>
            <a:ext cx="2627957" cy="53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sz="31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MVP in 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6904" y="4228948"/>
            <a:ext cx="1603058" cy="26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56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Quantum Engine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6904" y="2190693"/>
            <a:ext cx="1930546" cy="26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56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Analytics</a:t>
            </a:r>
            <a:r>
              <a:rPr lang="en-US" sz="1568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6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51539" y="2190693"/>
            <a:ext cx="1282351" cy="26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56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Live City Map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49821" y="2494102"/>
            <a:ext cx="1705070" cy="120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12 active routes</a:t>
            </a:r>
          </a:p>
          <a:p>
            <a:pPr algn="l">
              <a:lnSpc>
                <a:spcPts val="2400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284 L fuel saved</a:t>
            </a:r>
          </a:p>
          <a:p>
            <a:pPr algn="l">
              <a:lnSpc>
                <a:spcPts val="2400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741 kg CO₂ reduced 89% pickup efficiency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9821" y="4522832"/>
            <a:ext cx="2634882" cy="9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Simulated</a:t>
            </a:r>
            <a:r>
              <a:rPr lang="en-US" sz="133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annealing</a:t>
            </a:r>
            <a:r>
              <a:rPr lang="en-US" sz="133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convergence Optimization cycle metrics</a:t>
            </a:r>
          </a:p>
          <a:p>
            <a:pPr algn="l">
              <a:lnSpc>
                <a:spcPts val="2422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Route scoring &amp; comparison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9766" y="5798582"/>
            <a:ext cx="5707485" cy="48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Functional MVP with real-time visualization, live optimization simulation, and sustainability analytics.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74466" y="2503627"/>
            <a:ext cx="2303278" cy="88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133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vehicle tracking Smart bin heatmap overlay Optimized route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355597"/>
            <a:ext cx="11556997" cy="6567421"/>
          </a:xfrm>
          <a:custGeom>
            <a:avLst/>
            <a:gdLst/>
            <a:ahLst/>
            <a:cxnLst/>
            <a:rect r="r" b="b" t="t" l="l"/>
            <a:pathLst>
              <a:path h="6567421" w="11556997">
                <a:moveTo>
                  <a:pt x="0" y="0"/>
                </a:moveTo>
                <a:lnTo>
                  <a:pt x="11556997" y="0"/>
                </a:lnTo>
                <a:lnTo>
                  <a:pt x="11556997" y="6567421"/>
                </a:lnTo>
                <a:lnTo>
                  <a:pt x="0" y="6567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9285" y="6049080"/>
            <a:ext cx="1637081" cy="1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"/>
              </a:lnSpc>
            </a:pPr>
            <a:r>
              <a:rPr lang="en-US" sz="1001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SDG 13 — CLIMATE ACTION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6958" y="6049080"/>
            <a:ext cx="2019376" cy="1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"/>
              </a:lnSpc>
            </a:pPr>
            <a:r>
              <a:rPr lang="en-US" sz="1001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SDG 9 — INDUSTRY INNOVATION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9760" y="962977"/>
            <a:ext cx="1678819" cy="1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"/>
              </a:lnSpc>
            </a:pPr>
            <a:r>
              <a:rPr lang="en-US" sz="100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IMPACT &amp; SDG ALIGNMENT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4520" y="1321927"/>
            <a:ext cx="3348704" cy="69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Real-World Impact</a:t>
            </a:r>
          </a:p>
          <a:p>
            <a:pPr algn="l">
              <a:lnSpc>
                <a:spcPts val="3678"/>
              </a:lnSpc>
            </a:pPr>
            <a:r>
              <a:rPr lang="en-US" sz="147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🏙</a:t>
            </a:r>
            <a:r>
              <a:rPr lang="en-US" sz="1471">
                <a:solidFill>
                  <a:srgbClr val="FFD9B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9022" y="2880236"/>
            <a:ext cx="1580302" cy="2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CO₂ Avoided Daily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0461" y="3143059"/>
            <a:ext cx="38891" cy="2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2126" y="1765859"/>
            <a:ext cx="3714445" cy="2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SDG</a:t>
            </a:r>
            <a:r>
              <a:rPr lang="en-US" sz="1471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11</a:t>
            </a:r>
            <a:r>
              <a:rPr lang="en-US" sz="1471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—</a:t>
            </a:r>
            <a:r>
              <a:rPr lang="en-US" sz="1471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Sustainable</a:t>
            </a:r>
            <a:r>
              <a:rPr lang="en-US" sz="1471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Cities</a:t>
            </a:r>
            <a:r>
              <a:rPr lang="en-US" sz="1471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&amp;</a:t>
            </a:r>
            <a:r>
              <a:rPr lang="en-US" sz="1471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471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Communities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9589" y="4585125"/>
            <a:ext cx="1897494" cy="2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Fewer Missed Pickups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9465" y="4847958"/>
            <a:ext cx="38891" cy="2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5137" y="3143059"/>
            <a:ext cx="2200218" cy="2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Per</a:t>
            </a:r>
            <a:r>
              <a:rPr lang="en-US" sz="125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optimized</a:t>
            </a:r>
            <a:r>
              <a:rPr lang="en-US" sz="125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collection</a:t>
            </a:r>
            <a:r>
              <a:rPr lang="en-US" sz="125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cycle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2186" y="4923177"/>
            <a:ext cx="2293182" cy="2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Collection time saved per route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2931" y="5466083"/>
            <a:ext cx="5536525" cy="21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"Route Zero transforms waste collection into intelligent urban infrastructure."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96568" y="3323053"/>
            <a:ext cx="1417101" cy="2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Per collection cycle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68858" y="4847958"/>
            <a:ext cx="2327519" cy="21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Reduction</a:t>
            </a:r>
            <a:r>
              <a:rPr lang="en-US" sz="125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</a:t>
            </a:r>
            <a:r>
              <a:rPr lang="en-US" sz="125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missed</a:t>
            </a:r>
            <a:r>
              <a:rPr lang="en-US" sz="125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collections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47674" y="2208257"/>
            <a:ext cx="1029157" cy="56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3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741kg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42908" y="3791512"/>
            <a:ext cx="1247499" cy="87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sz="413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3.4h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02537" y="3793598"/>
            <a:ext cx="1008412" cy="7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sz="413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89%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42568" y="2191388"/>
            <a:ext cx="1133027" cy="87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2"/>
              </a:lnSpc>
            </a:pPr>
            <a:r>
              <a:rPr lang="en-US" sz="413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284L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365122"/>
            <a:ext cx="11553282" cy="6552886"/>
            <a:chOff x="0" y="0"/>
            <a:chExt cx="15404376" cy="8737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4337" cy="8737219"/>
            </a:xfrm>
            <a:custGeom>
              <a:avLst/>
              <a:gdLst/>
              <a:ahLst/>
              <a:cxnLst/>
              <a:rect r="r" b="b" t="t" l="l"/>
              <a:pathLst>
                <a:path h="8737219" w="15404337">
                  <a:moveTo>
                    <a:pt x="0" y="0"/>
                  </a:moveTo>
                  <a:lnTo>
                    <a:pt x="15404337" y="0"/>
                  </a:lnTo>
                  <a:lnTo>
                    <a:pt x="15404337" y="8737219"/>
                  </a:lnTo>
                  <a:lnTo>
                    <a:pt x="0" y="8737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66572" y="987904"/>
            <a:ext cx="1952368" cy="2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8"/>
              </a:lnSpc>
            </a:pPr>
            <a:r>
              <a:rPr lang="en-US" sz="117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COMPETITIVE ADVANTAGE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520" y="1303506"/>
            <a:ext cx="6886694" cy="58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3464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What Makes Route Zero Different?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0488" y="2939291"/>
            <a:ext cx="1719939" cy="5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Quantum-Native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860" y="3501828"/>
            <a:ext cx="45749" cy="2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96175" y="2881865"/>
            <a:ext cx="2868320" cy="123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Dynamic Real-Time Routing</a:t>
            </a:r>
          </a:p>
          <a:p>
            <a:pPr algn="l">
              <a:lnSpc>
                <a:spcPts val="2324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Routes adapt based on live fill- level intelligence instead of rigid fixed schedules.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32004" y="2881865"/>
            <a:ext cx="2694118" cy="151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7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Hybrid Deployment Ready</a:t>
            </a:r>
          </a:p>
          <a:p>
            <a:pPr algn="l">
              <a:lnSpc>
                <a:spcPts val="2295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Runs today on classical infrastructure while remaining fully quantum-ready for tomorrow.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0488" y="3501828"/>
            <a:ext cx="2233374" cy="25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Built specifically for QUBO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0488" y="3778044"/>
            <a:ext cx="2881513" cy="85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4"/>
              </a:lnSpc>
            </a:pPr>
            <a:r>
              <a:rPr lang="en-US" sz="147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optimization and future quantum hardware deployment — not an afterthought.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2005" y="5444652"/>
            <a:ext cx="9113930" cy="56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471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Why Now?</a:t>
            </a:r>
            <a:r>
              <a:rPr lang="en-US" sz="1471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Cloud quantum platforms like D-Wave Leap and IBM Quantum are making quantum-inspired optimization accessible — without requiring physical quantum hardware.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365122"/>
            <a:ext cx="11553282" cy="6552886"/>
            <a:chOff x="0" y="0"/>
            <a:chExt cx="15404376" cy="8737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4337" cy="8737219"/>
            </a:xfrm>
            <a:custGeom>
              <a:avLst/>
              <a:gdLst/>
              <a:ahLst/>
              <a:cxnLst/>
              <a:rect r="r" b="b" t="t" l="l"/>
              <a:pathLst>
                <a:path h="8737219" w="15404337">
                  <a:moveTo>
                    <a:pt x="0" y="0"/>
                  </a:moveTo>
                  <a:lnTo>
                    <a:pt x="15404337" y="0"/>
                  </a:lnTo>
                  <a:lnTo>
                    <a:pt x="15404337" y="8737219"/>
                  </a:lnTo>
                  <a:lnTo>
                    <a:pt x="0" y="8737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1545" y="1060637"/>
            <a:ext cx="659225" cy="19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3"/>
              </a:lnSpc>
            </a:pPr>
            <a:r>
              <a:rPr lang="en-US" sz="10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ROADMAP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323" y="1300696"/>
            <a:ext cx="2440848" cy="52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033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Built for Scale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51849" y="3910460"/>
            <a:ext cx="128264" cy="31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2745" y="3015158"/>
            <a:ext cx="126378" cy="31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3728" y="2072221"/>
            <a:ext cx="83468" cy="31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6546" y="3926977"/>
            <a:ext cx="3105464" cy="27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Phase 3 — Enterprise (9–18 Months)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6620" y="2079212"/>
            <a:ext cx="2513305" cy="27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Phase 1 — MVP (0–3 Months)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33550" y="3022149"/>
            <a:ext cx="3477206" cy="27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Phase 2 — Smart City Pilot (3–9 Months)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5251" y="2404748"/>
            <a:ext cx="1611687" cy="112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28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Smart bin simulator Optimization engine FastAPI backend Dashboard prototype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251" y="4240606"/>
            <a:ext cx="2189093" cy="116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28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SaaS licensing</a:t>
            </a:r>
          </a:p>
          <a:p>
            <a:pPr algn="l">
              <a:lnSpc>
                <a:spcPts val="2324"/>
              </a:lnSpc>
            </a:pPr>
            <a:r>
              <a:rPr lang="en-US" sz="128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Government integration Carbon credit analytics Large-scale deployment APIs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5468" y="3347676"/>
            <a:ext cx="1779832" cy="112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28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IoT sensor integration Multi-zone routing</a:t>
            </a:r>
          </a:p>
          <a:p>
            <a:pPr algn="l">
              <a:lnSpc>
                <a:spcPts val="2249"/>
              </a:lnSpc>
            </a:pPr>
            <a:r>
              <a:rPr lang="en-US" sz="128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ML demand forecasting Driver mobile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5351" y="5771331"/>
            <a:ext cx="9711299" cy="23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b="true" sz="1289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MVP Deliverable:</a:t>
            </a:r>
            <a:r>
              <a:rPr lang="en-US" sz="128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Working web platform with live route optimization, sustainability tracking, and quantum-inspired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625"/>
            <a:ext cx="11425228" cy="6429070"/>
            <a:chOff x="0" y="0"/>
            <a:chExt cx="11425238" cy="64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25180" cy="6429121"/>
            </a:xfrm>
            <a:custGeom>
              <a:avLst/>
              <a:gdLst/>
              <a:ahLst/>
              <a:cxnLst/>
              <a:rect r="r" b="b" t="t" l="l"/>
              <a:pathLst>
                <a:path h="6429121" w="11425180">
                  <a:moveTo>
                    <a:pt x="0" y="0"/>
                  </a:moveTo>
                  <a:lnTo>
                    <a:pt x="0" y="6429121"/>
                  </a:lnTo>
                  <a:lnTo>
                    <a:pt x="11425180" y="6429121"/>
                  </a:lnTo>
                  <a:lnTo>
                    <a:pt x="11425180" y="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28625"/>
            <a:ext cx="4286050" cy="6429070"/>
            <a:chOff x="0" y="0"/>
            <a:chExt cx="5714733" cy="8572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4746" cy="8572119"/>
            </a:xfrm>
            <a:custGeom>
              <a:avLst/>
              <a:gdLst/>
              <a:ahLst/>
              <a:cxnLst/>
              <a:rect r="r" b="b" t="t" l="l"/>
              <a:pathLst>
                <a:path h="8572119" w="5714746">
                  <a:moveTo>
                    <a:pt x="0" y="0"/>
                  </a:moveTo>
                  <a:lnTo>
                    <a:pt x="5714746" y="0"/>
                  </a:lnTo>
                  <a:lnTo>
                    <a:pt x="5714746" y="8572119"/>
                  </a:lnTo>
                  <a:lnTo>
                    <a:pt x="0" y="857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t="0" r="-15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365122"/>
            <a:ext cx="11556997" cy="6556372"/>
          </a:xfrm>
          <a:custGeom>
            <a:avLst/>
            <a:gdLst/>
            <a:ahLst/>
            <a:cxnLst/>
            <a:rect r="r" b="b" t="t" l="l"/>
            <a:pathLst>
              <a:path h="6556372" w="11556997">
                <a:moveTo>
                  <a:pt x="0" y="0"/>
                </a:moveTo>
                <a:lnTo>
                  <a:pt x="11556997" y="0"/>
                </a:lnTo>
                <a:lnTo>
                  <a:pt x="11556997" y="6556372"/>
                </a:lnTo>
                <a:lnTo>
                  <a:pt x="0" y="6556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40560" y="934850"/>
            <a:ext cx="5284651" cy="79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59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Every Optimized Route is One Less Truck-Kilometer of CO₂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5007" y="1910143"/>
            <a:ext cx="34319" cy="1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80749" y="4738935"/>
            <a:ext cx="1186567" cy="1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UI/UX &amp; 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0749" y="3034046"/>
            <a:ext cx="1320975" cy="1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Full Stack Developer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80749" y="3891248"/>
            <a:ext cx="1576654" cy="1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Backend &amp; Optimization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0749" y="5586622"/>
            <a:ext cx="1579083" cy="1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Research &amp; 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40560" y="1910143"/>
            <a:ext cx="5778846" cy="19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Route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Zero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is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not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just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routing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platform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—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it</a:t>
            </a:r>
            <a:r>
              <a:rPr lang="en-US" sz="110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is</a:t>
            </a:r>
            <a:r>
              <a:rPr lang="en-US" b="true" sz="1103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</a:t>
            </a:r>
            <a:r>
              <a:rPr lang="en-US" b="true" sz="1103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next-generation</a:t>
            </a:r>
            <a:r>
              <a:rPr lang="en-US" b="true" sz="1103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</a:t>
            </a:r>
            <a:r>
              <a:rPr lang="en-US" b="true" sz="1103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smart</a:t>
            </a:r>
            <a:r>
              <a:rPr lang="en-US" b="true" sz="1103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</a:t>
            </a:r>
            <a:r>
              <a:rPr lang="en-US" b="true" sz="1103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city</a:t>
            </a:r>
            <a:r>
              <a:rPr lang="en-US" b="true" sz="1103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</a:t>
            </a:r>
            <a:r>
              <a:rPr lang="en-US" b="true" sz="1103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infrastructure</a:t>
            </a:r>
            <a:r>
              <a:rPr lang="en-US" sz="110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0587" y="3606946"/>
            <a:ext cx="361131" cy="22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29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Abhi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80749" y="2759259"/>
            <a:ext cx="624211" cy="22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29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Dhiraj 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80749" y="4464158"/>
            <a:ext cx="563308" cy="22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29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Dhruva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80749" y="5311845"/>
            <a:ext cx="640518" cy="22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29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Durgesh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40560" y="2254463"/>
            <a:ext cx="3003604" cy="22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298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Quantum Intelligence for Cleaner Cities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24647" y="6076969"/>
            <a:ext cx="2547576" cy="16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883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SDG 11 — SUSTAINABLE CITIES &amp; COMMUNITIES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7744" y="6105573"/>
            <a:ext cx="1094308" cy="16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883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TEAM CODE CARTEL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39285" y="6076969"/>
            <a:ext cx="615829" cy="16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883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23/05/2026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DAHKfAWjmsI</dc:identifier>
  <dcterms:modified xsi:type="dcterms:W3CDTF">2011-08-01T06:04:30Z</dcterms:modified>
  <cp:revision>1</cp:revision>
  <dc:title>Route Zero.pdf</dc:title>
</cp:coreProperties>
</file>